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071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548640"/>
            <a:ext cx="4754880" cy="4754880"/>
          </a:xfrm>
          <a:prstGeom prst="ellipse">
            <a:avLst/>
          </a:prstGeom>
          <a:solidFill>
            <a:srgbClr val="1E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56692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5400000">
            <a:off x="940734" y="647760"/>
            <a:ext cx="118140" cy="149230"/>
          </a:xfrm>
          <a:prstGeom prst="triangl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58521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Pitch Avatar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28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FC0FF"/>
                </a:solidFill>
                <a:latin typeface="Inter"/>
              </a:rPr>
              <a:t>PRODUCT STRATEGY · COMPETITIVE TEARDOWN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Inter"/>
              </a:rPr>
              <a:t>Use Cases &amp; UI Skins: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Inter"/>
              </a:rPr>
              <a:t>как продавать сложный продукт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Inter"/>
              </a:rPr>
              <a:t>разным аудиториям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262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9D8FF"/>
                </a:solidFill>
                <a:latin typeface="Inter"/>
              </a:rPr>
              <a:t>Что делают Monday, ClickUp, HubSpot и Salesforce — и какие из этих практик стоит перенести в Pitch Avatar.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440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FC4FF"/>
                </a:solidFill>
                <a:latin typeface="Inter"/>
              </a:rPr>
              <a:t>Документ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7150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Обзор конкурентов v3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5440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FC4FF"/>
                </a:solidFill>
                <a:latin typeface="Inter"/>
              </a:rPr>
              <a:t>Фокус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57150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Onboarding · Modular UI ·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5440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FC4FF"/>
                </a:solidFill>
                <a:latin typeface="Inter"/>
              </a:rPr>
              <a:t>Аудитории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57150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HR · Marketing · Sales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566928"/>
            <a:ext cx="82296" cy="82296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572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5FFF"/>
                </a:solidFill>
                <a:latin typeface="Inter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4572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4748B"/>
                </a:solidFill>
                <a:latin typeface="Int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Inter"/>
              </a:rPr>
              <a:t>Коротко: один вопрос на входе + модульный интерфейс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Inter"/>
              </a:rPr>
              <a:t>Лидеры рынка решают конфликт «мощность против простоты» двумя приёмами, которые работают в связке. Это основа рекомендаций для Pitch Avatar.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14884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404872"/>
            <a:ext cx="1563624" cy="29260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B5FFF"/>
                </a:solidFill>
                <a:latin typeface="Inter"/>
              </a:rPr>
              <a:t>Паттерн 1 ·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45628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Intent-driven 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00984"/>
            <a:ext cx="456285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Спросить о цели один раз при регистрации и записать Use Case в профиль. Дальше продукт сам подстраивает интерфейс.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14884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55664" y="2404872"/>
            <a:ext cx="1641348" cy="292608"/>
          </a:xfrm>
          <a:prstGeom prst="roundRect">
            <a:avLst>
              <a:gd name="adj" fmla="val 50000"/>
            </a:avLst>
          </a:prstGeom>
          <a:solidFill>
            <a:srgbClr val="F1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423160"/>
            <a:ext cx="16413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7C3AED"/>
                </a:solidFill>
                <a:latin typeface="Inter"/>
              </a:rPr>
              <a:t>Паттерн 2 · Modular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880360"/>
            <a:ext cx="45628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Role-Based / Modular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300984"/>
            <a:ext cx="456285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Единое ядро данных, поверх которого включаются и выключаются модули. Лишнее скрыто; сложное — за «замочком».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1605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0B5FFF"/>
                </a:solidFill>
                <a:latin typeface="Inter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9204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вопрос на онбординге определяет всю дальнейшую конфигурацию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41605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0B5FFF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89204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аудитории (HR · Marketing · Sales) — три UI-скина на одном ядре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41605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0B5FFF"/>
                </a:solidFill>
                <a:latin typeface="Inter"/>
              </a:rPr>
              <a:t>403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89204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скрытие в UI обязательно подкрепляется защитой бэкенда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6355080"/>
            <a:ext cx="10509199" cy="10972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888065" y="6493703"/>
            <a:ext cx="55595" cy="70225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5" y="64373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Pitch Avatar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8447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3A0B4"/>
                </a:solidFill>
                <a:latin typeface="Inter"/>
              </a:rPr>
              <a:t>Обзор конкурентов · v3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566928"/>
            <a:ext cx="82296" cy="82296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572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5FFF"/>
                </a:solidFill>
                <a:latin typeface="Inter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4572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4748B"/>
                </a:solidFill>
                <a:latin typeface="Int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Inter"/>
              </a:rPr>
              <a:t>Complexity vs Usability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Inter"/>
              </a:rPr>
              <a:t>Pitch Avatar — мощный продукт. Но один и тот же интерфейс пугает новичка и тормозит эксперта. Как продать ценность каждой аудитории, не утопив её в функциях?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240280"/>
            <a:ext cx="5074920" cy="35661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496312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FC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D97706"/>
                </a:solidFill>
                <a:latin typeface="Inter"/>
              </a:rPr>
              <a:t>Риск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45628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Что ломается сегодня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92424"/>
            <a:ext cx="4562856" cy="2231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B5FFF"/>
                </a:solidFill>
                <a:latin typeface="Inter"/>
              </a:rPr>
              <a:t>•  </a:t>
            </a:r>
            <a:r>
              <a:rPr sz="1200" b="0" i="0">
                <a:solidFill>
                  <a:srgbClr val="334155"/>
                </a:solidFill>
                <a:latin typeface="Inter"/>
              </a:rPr>
              <a:t>Новичок видит все функции сразу → перегрузка и отток.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B5FFF"/>
                </a:solidFill>
                <a:latin typeface="Inter"/>
              </a:rPr>
              <a:t>•  </a:t>
            </a:r>
            <a:r>
              <a:rPr sz="1200" b="0" i="0">
                <a:solidFill>
                  <a:srgbClr val="334155"/>
                </a:solidFill>
                <a:latin typeface="Inter"/>
              </a:rPr>
              <a:t>HR, маркетолог и продавец получают один и тот же экран.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B5FFF"/>
                </a:solidFill>
                <a:latin typeface="Inter"/>
              </a:rPr>
              <a:t>•  </a:t>
            </a:r>
            <a:r>
              <a:rPr sz="1200" b="0" i="0">
                <a:solidFill>
                  <a:srgbClr val="334155"/>
                </a:solidFill>
                <a:latin typeface="Inter"/>
              </a:rPr>
              <a:t>Ценность продвинутых функций просто не замечают.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240280"/>
            <a:ext cx="5074920" cy="356616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55664" y="2496312"/>
            <a:ext cx="1019556" cy="29260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514600"/>
            <a:ext cx="10195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B5FFF"/>
                </a:solidFill>
                <a:latin typeface="Inter"/>
              </a:rPr>
              <a:t>Ответ рынка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971800"/>
            <a:ext cx="45628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Как решают лидеры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392424"/>
            <a:ext cx="4562856" cy="2231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B5FFF"/>
                </a:solidFill>
                <a:latin typeface="Inter"/>
              </a:rPr>
              <a:t>•  </a:t>
            </a:r>
            <a:r>
              <a:rPr sz="1200" b="0" i="0">
                <a:solidFill>
                  <a:srgbClr val="334155"/>
                </a:solidFill>
                <a:latin typeface="Inter"/>
              </a:rPr>
              <a:t>Intent-driven onboarding — узнать цель и показать релевантное.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B5FFF"/>
                </a:solidFill>
                <a:latin typeface="Inter"/>
              </a:rPr>
              <a:t>•  </a:t>
            </a:r>
            <a:r>
              <a:rPr sz="1200" b="0" i="0">
                <a:solidFill>
                  <a:srgbClr val="334155"/>
                </a:solidFill>
                <a:latin typeface="Inter"/>
              </a:rPr>
              <a:t>Modular UI / role-based workspaces — свой набор модулей.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B5FFF"/>
                </a:solidFill>
                <a:latin typeface="Inter"/>
              </a:rPr>
              <a:t>•  </a:t>
            </a:r>
            <a:r>
              <a:rPr sz="1200" b="0" i="0">
                <a:solidFill>
                  <a:srgbClr val="334155"/>
                </a:solidFill>
                <a:latin typeface="Inter"/>
              </a:rPr>
              <a:t>Progressive disclosure + upsell — сложное «продаётся» тизерами.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6355080"/>
            <a:ext cx="10509199" cy="10972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888065" y="6493703"/>
            <a:ext cx="55595" cy="70225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" y="64373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Pitch Avatar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8447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3A0B4"/>
                </a:solidFill>
                <a:latin typeface="Inter"/>
              </a:rPr>
              <a:t>Обзор конкурентов · v3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566928"/>
            <a:ext cx="82296" cy="82296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572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5FFF"/>
                </a:solidFill>
                <a:latin typeface="Inter"/>
              </a:rPr>
              <a:t>КЕЙС 1 · ОНБОРДИНГ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4572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4748B"/>
                </a:solidFill>
                <a:latin typeface="Int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Inter"/>
              </a:rPr>
              <a:t>Monday.com и ClickUp: цель спрашивают сразу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Inter"/>
              </a:rPr>
              <a:t>Оба продукта превращают первый экран в инструмент сегментации и используют ответ для маршрутизации по правильной воронке.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194560"/>
            <a:ext cx="3401568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50591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Survey на входе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71215"/>
            <a:ext cx="288950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Обязательный вопрос при регистрации: «Для чего вы будете использовать платформу?». Ответ — в профиль.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2194560"/>
            <a:ext cx="3401568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5736" y="2450591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Привязка к доменам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2871215"/>
            <a:ext cx="288950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Кастомные лендинги пробрасывают UTM-параметры и предзаполняют ответы, пропуская лишние шаги.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94560"/>
            <a:ext cx="3401568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450591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Trial vs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871215"/>
            <a:ext cx="288950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Self-serve trial для малых команд; Enterprise-трафик уходит на Demo с участием sales.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526280"/>
            <a:ext cx="10509199" cy="86868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270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690872"/>
            <a:ext cx="9923983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5FFF"/>
                </a:solidFill>
                <a:latin typeface="Inter"/>
              </a:rPr>
              <a:t>Вывод для Pitch Avatar: </a:t>
            </a:r>
            <a:r>
              <a:rPr sz="1300" b="0" i="0">
                <a:solidFill>
                  <a:srgbClr val="1E3A8A"/>
                </a:solidFill>
                <a:latin typeface="Inter"/>
              </a:rPr>
              <a:t>первый экран — точка сегментации. Один вопрос экономит десятки последующих и задаёт стартовую конфигурацию.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6355080"/>
            <a:ext cx="10509199" cy="10972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888065" y="6493703"/>
            <a:ext cx="55595" cy="70225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5" y="64373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Pitch Avatar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8447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3A0B4"/>
                </a:solidFill>
                <a:latin typeface="Inter"/>
              </a:rPr>
              <a:t>Обзор конкурентов · v3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566928"/>
            <a:ext cx="82296" cy="82296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572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5FFF"/>
                </a:solidFill>
                <a:latin typeface="Inter"/>
              </a:rPr>
              <a:t>ВИЗУАЛИЗАЦИЯ · INTENT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4572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4748B"/>
                </a:solidFill>
                <a:latin typeface="Inter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143000"/>
            <a:ext cx="6126480" cy="47548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nboar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280160"/>
            <a:ext cx="5852160" cy="5852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0920" y="13716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F172A"/>
                </a:solidFill>
                <a:latin typeface="Inter"/>
              </a:rPr>
              <a:t>Один экран — три пути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22402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2258568"/>
            <a:ext cx="3108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203704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Inter"/>
              </a:rPr>
              <a:t>Прямой вопрос о цели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532888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«What are you using … for?» — выбор роли вместо тура по функциям.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319272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3337560"/>
            <a:ext cx="3108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282696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Inter"/>
              </a:rPr>
              <a:t>Карточки-роли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611879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Marketing / HR / Sales — каждая ведёт к своему рабочему пространству.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4398264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16551"/>
            <a:ext cx="3108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36168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Inter"/>
              </a:rPr>
              <a:t>Прогресс и «Skip»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690872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Шаг 3 из 5 + «Skip for now»: контроль и низкий порог входа.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6355080"/>
            <a:ext cx="10509199" cy="10972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888065" y="6493703"/>
            <a:ext cx="55595" cy="70225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64373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Pitch Avatar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8447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3A0B4"/>
                </a:solidFill>
                <a:latin typeface="Inter"/>
              </a:rPr>
              <a:t>Референс: intent-driven onboarding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566928"/>
            <a:ext cx="82296" cy="82296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572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5FFF"/>
                </a:solidFill>
                <a:latin typeface="Inter"/>
              </a:rPr>
              <a:t>КЕЙС 2 · UI SKINS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4572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4748B"/>
                </a:solidFill>
                <a:latin typeface="Inte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Inter"/>
              </a:rPr>
              <a:t>HubSpot: модульность и upsell через «замочки»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Inter"/>
              </a:rPr>
              <a:t>Единое ядро, разделённое на Hubs. Недоступное не удаляется из интерфейса, а превращается в точку продажи.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194560"/>
            <a:ext cx="3401568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50591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Единое ядро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71215"/>
            <a:ext cx="288950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Разделение на Marketing, Sales и Service Hubs поверх общей базы контактов и сделок.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2194560"/>
            <a:ext cx="3401568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5736" y="2450591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Умное скрытие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2871215"/>
            <a:ext cx="288950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Ненужные функции скрыты или помечены «замочком» — интерфейс остаётся чистым.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94560"/>
            <a:ext cx="3401568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450591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Upsell-тизеры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871215"/>
            <a:ext cx="288950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Клик по заблокированной функции открывает Demo/Upgrade — disclosure как канал продаж.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526280"/>
            <a:ext cx="10509199" cy="86868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270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690872"/>
            <a:ext cx="9923983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5FFF"/>
                </a:solidFill>
                <a:latin typeface="Inter"/>
              </a:rPr>
              <a:t>Вывод для Pitch Avatar: </a:t>
            </a:r>
            <a:r>
              <a:rPr sz="1300" b="0" i="0">
                <a:solidFill>
                  <a:srgbClr val="1E3A8A"/>
                </a:solidFill>
                <a:latin typeface="Inter"/>
              </a:rPr>
              <a:t>заблокированная функция — это не «нет», а «ещё не сейчас». «Замочек» упрощает UI и продаёт следующий тариф.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6355080"/>
            <a:ext cx="10509199" cy="10972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888065" y="6493703"/>
            <a:ext cx="55595" cy="70225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5" y="64373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Pitch Avatar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8447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3A0B4"/>
                </a:solidFill>
                <a:latin typeface="Inter"/>
              </a:rPr>
              <a:t>Обзор конкурентов · v3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566928"/>
            <a:ext cx="82296" cy="82296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572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5FFF"/>
                </a:solidFill>
                <a:latin typeface="Inter"/>
              </a:rPr>
              <a:t>ВИЗУАЛИЗАЦИЯ · MODULAR UI &amp; UPSELL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4572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4748B"/>
                </a:solidFill>
                <a:latin typeface="Inter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143000"/>
            <a:ext cx="6126480" cy="47548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dul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280160"/>
            <a:ext cx="5852160" cy="5852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0920" y="13716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F172A"/>
                </a:solidFill>
                <a:latin typeface="Inter"/>
              </a:rPr>
              <a:t>Чистое меню + витрина апгрейда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22402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2258568"/>
            <a:ext cx="3108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203704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Inter"/>
              </a:rPr>
              <a:t>Активные модули сверху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532888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Пользователь видит только доступное и нужное прямо сейчас.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319272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3337560"/>
            <a:ext cx="3108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282696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Inter"/>
              </a:rPr>
              <a:t>Заблокированное — под «замочком»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611879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Advanced Analytics, CRM Integrations остаются как тизеры.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4398264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16551"/>
            <a:ext cx="3108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36168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Inter"/>
              </a:rPr>
              <a:t>Экран Upgrade to 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690872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Ценность апгрейда — списком фич + явный CTA и «Compare Plans».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6355080"/>
            <a:ext cx="10509199" cy="10972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888065" y="6493703"/>
            <a:ext cx="55595" cy="70225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64373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Pitch Avatar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8447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3A0B4"/>
                </a:solidFill>
                <a:latin typeface="Inter"/>
              </a:rPr>
              <a:t>Референс: modular UI &amp; upsell teasers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566928"/>
            <a:ext cx="82296" cy="82296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572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5FFF"/>
                </a:solidFill>
                <a:latin typeface="Inter"/>
              </a:rPr>
              <a:t>КЕЙС 3 · UI SKINS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4572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4748B"/>
                </a:solidFill>
                <a:latin typeface="Inter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Inter"/>
              </a:rPr>
              <a:t>Salesforce: «Apps» как настраиваемые UI-скины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Inter"/>
              </a:rPr>
              <a:t>Одно ядро базы данных, поверх которого админ собирает разные приложения под HR, Sales и Marketing — без кода.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194560"/>
            <a:ext cx="3401568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50591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Концепция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71215"/>
            <a:ext cx="288950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Переключение между HR / Sales / Marketing внутри одного ядра — у каждой роли свой «App».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2194560"/>
            <a:ext cx="3401568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5736" y="2450591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Динамический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2871215"/>
            <a:ext cx="288950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Меняется навигация, Home Page и доступные Actions — под задачи роли.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94560"/>
            <a:ext cx="3401568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450591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Lightning App 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871215"/>
            <a:ext cx="288950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Видимость меню и дашбордов настраивается галочками/тумблерами в админке.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526280"/>
            <a:ext cx="10509199" cy="86868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270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690872"/>
            <a:ext cx="9923983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5FFF"/>
                </a:solidFill>
                <a:latin typeface="Inter"/>
              </a:rPr>
              <a:t>Вывод для Pitch Avatar: </a:t>
            </a:r>
            <a:r>
              <a:rPr sz="1300" b="0" i="0">
                <a:solidFill>
                  <a:srgbClr val="1E3A8A"/>
                </a:solidFill>
                <a:latin typeface="Inter"/>
              </a:rPr>
              <a:t>UI-скин — это конфигурация, а не отдельная сборка. Админ собирает рабочее пространство тумблерами, без разработки.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6355080"/>
            <a:ext cx="10509199" cy="10972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888065" y="6493703"/>
            <a:ext cx="55595" cy="70225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5" y="64373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Pitch Avatar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8447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3A0B4"/>
                </a:solidFill>
                <a:latin typeface="Inter"/>
              </a:rPr>
              <a:t>Обзор конкурентов · v3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566928"/>
            <a:ext cx="82296" cy="82296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572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5FFF"/>
                </a:solidFill>
                <a:latin typeface="Inter"/>
              </a:rPr>
              <a:t>ВИЗУАЛИЗАЦИЯ · ADMIN APP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4572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4748B"/>
                </a:solidFill>
                <a:latin typeface="Inter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143000"/>
            <a:ext cx="6126480" cy="47548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buil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280160"/>
            <a:ext cx="5852160" cy="5852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0920" y="13716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F172A"/>
                </a:solidFill>
                <a:latin typeface="Inter"/>
              </a:rPr>
              <a:t>Конструктор скина для админа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22402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2258568"/>
            <a:ext cx="3108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203704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Inter"/>
              </a:rPr>
              <a:t>Theme / Skin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532888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Enterprise Default, Classic Light, Dark, Custom Skin.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319272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3337560"/>
            <a:ext cx="3108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282696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Inter"/>
              </a:rPr>
              <a:t>Sidebar Navigation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611879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Тумблеры видимости, drag-and-drop порядок, иконки и настройки.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4398264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16551"/>
            <a:ext cx="3108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36168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Inter"/>
              </a:rPr>
              <a:t>App Modules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690872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Включение модулей (Lead Scoring, AI Insights) + Save &amp; Publish.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6355080"/>
            <a:ext cx="10509199" cy="10972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888065" y="6493703"/>
            <a:ext cx="55595" cy="70225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64373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Pitch Avatar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8447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3A0B4"/>
                </a:solidFill>
                <a:latin typeface="Inter"/>
              </a:rPr>
              <a:t>Референс: admin app builder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566928"/>
            <a:ext cx="82296" cy="82296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572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5FFF"/>
                </a:solidFill>
                <a:latin typeface="Inter"/>
              </a:rPr>
              <a:t>СРАВНЕНИЕ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4572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4748B"/>
                </a:solidFill>
                <a:latin typeface="Inter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Inter"/>
              </a:rPr>
              <a:t>Что берём у каждого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828800"/>
          <a:ext cx="10515600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148840"/>
                <a:gridCol w="2057400"/>
                <a:gridCol w="1965960"/>
                <a:gridCol w="224028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</a:rPr>
                        <a:t>Механика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4748B"/>
                          </a:solidFill>
                          <a:latin typeface="Inter"/>
                        </a:rPr>
                        <a:t>Monday / ClickUp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4748B"/>
                          </a:solidFill>
                          <a:latin typeface="Inter"/>
                        </a:rPr>
                        <a:t>HubSpot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4748B"/>
                          </a:solidFill>
                          <a:latin typeface="Inter"/>
                        </a:rPr>
                        <a:t>Salesforce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5FFF"/>
                          </a:solidFill>
                          <a:latin typeface="Inter"/>
                        </a:rPr>
                        <a:t>→ Pitch Avatar</a:t>
                      </a:r>
                    </a:p>
                  </a:txBody>
                  <a:tcPr marL="128016" marR="91440" marT="64008" marB="64008" anchor="ctr">
                    <a:solidFill>
                      <a:srgbClr val="EEF4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Старт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Inter"/>
                        </a:rPr>
                        <a:t>Обязательный survey о цели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Inter"/>
                        </a:rPr>
                        <a:t>Выбор Hub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Inter"/>
                        </a:rPr>
                        <a:t>Выбор App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3A8A"/>
                          </a:solidFill>
                          <a:latin typeface="Inter"/>
                        </a:rPr>
                        <a:t>Use Case в БД при регистрации</a:t>
                      </a:r>
                    </a:p>
                  </a:txBody>
                  <a:tcPr marL="128016" marR="91440" marT="64008" marB="64008" anchor="ctr">
                    <a:solidFill>
                      <a:srgbClr val="EEF4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Конфигурация UI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Inter"/>
                        </a:rPr>
                        <a:t>Шаблоны под ответ</a:t>
                      </a:r>
                    </a:p>
                  </a:txBody>
                  <a:tcPr marL="128016" marR="91440" marT="64008" marB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Inter"/>
                        </a:rPr>
                        <a:t>Модули Hub'ов</a:t>
                      </a:r>
                    </a:p>
                  </a:txBody>
                  <a:tcPr marL="128016" marR="91440" marT="64008" marB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Inter"/>
                        </a:rPr>
                        <a:t>App Builder (no-code)</a:t>
                      </a:r>
                    </a:p>
                  </a:txBody>
                  <a:tcPr marL="128016" marR="91440" marT="64008" marB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3A8A"/>
                          </a:solidFill>
                          <a:latin typeface="Inter"/>
                        </a:rPr>
                        <a:t>Тумблеры модулей (ClickApps)</a:t>
                      </a:r>
                    </a:p>
                  </a:txBody>
                  <a:tcPr marL="128016" marR="91440" marT="64008" marB="64008" anchor="ctr">
                    <a:solidFill>
                      <a:srgbClr val="EEF4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Сложное / платное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Inter"/>
                        </a:rPr>
                        <a:t>Перевод на Demo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Inter"/>
                        </a:rPr>
                        <a:t>«Замочки» + upsell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Inter"/>
                        </a:rPr>
                        <a:t>Права и профили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3A8A"/>
                          </a:solidFill>
                          <a:latin typeface="Inter"/>
                        </a:rPr>
                        <a:t>«Замочки» с тизером апгрейда</a:t>
                      </a:r>
                    </a:p>
                  </a:txBody>
                  <a:tcPr marL="128016" marR="91440" marT="64008" marB="64008" anchor="ctr">
                    <a:solidFill>
                      <a:srgbClr val="EEF4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Кто настраивает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Inter"/>
                        </a:rPr>
                        <a:t>Продукт автоматически</a:t>
                      </a:r>
                    </a:p>
                  </a:txBody>
                  <a:tcPr marL="128016" marR="91440" marT="64008" marB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Inter"/>
                        </a:rPr>
                        <a:t>Пользователь / админ</a:t>
                      </a:r>
                    </a:p>
                  </a:txBody>
                  <a:tcPr marL="128016" marR="91440" marT="64008" marB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Inter"/>
                        </a:rPr>
                        <a:t>Админ галочками</a:t>
                      </a:r>
                    </a:p>
                  </a:txBody>
                  <a:tcPr marL="128016" marR="91440" marT="64008" marB="6400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3A8A"/>
                          </a:solidFill>
                          <a:latin typeface="Inter"/>
                        </a:rPr>
                        <a:t>Админ — без разработки</a:t>
                      </a:r>
                    </a:p>
                  </a:txBody>
                  <a:tcPr marL="128016" marR="91440" marT="64008" marB="64008" anchor="ctr">
                    <a:solidFill>
                      <a:srgbClr val="EEF4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Безопасность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Inter"/>
                        </a:rPr>
                        <a:t>Серверная проверка тарифа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Inter"/>
                        </a:rPr>
                        <a:t>RLS / профили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3A8A"/>
                          </a:solidFill>
                          <a:latin typeface="Inter"/>
                        </a:rPr>
                        <a:t>UI-скрытие + 403 на бэкенде</a:t>
                      </a:r>
                    </a:p>
                  </a:txBody>
                  <a:tcPr marL="128016" marR="91440" marT="64008" marB="64008" anchor="ctr"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" y="6355080"/>
            <a:ext cx="10509199" cy="10972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888065" y="6493703"/>
            <a:ext cx="55595" cy="70225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64373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Pitch Avatar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8447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3A0B4"/>
                </a:solidFill>
                <a:latin typeface="Inter"/>
              </a:rPr>
              <a:t>Обзор конкурентов · v3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566928"/>
            <a:ext cx="82296" cy="82296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572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5FFF"/>
                </a:solidFill>
                <a:latin typeface="Inter"/>
              </a:rPr>
              <a:t>ПРИНЦИПЫ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4572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4748B"/>
                </a:solidFill>
                <a:latin typeface="Inter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Inter"/>
              </a:rPr>
              <a:t>Золотые правила для Pitch Avatar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103120"/>
            <a:ext cx="5074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103120"/>
            <a:ext cx="73152" cy="132588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304288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5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30428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Inter"/>
              </a:rPr>
              <a:t>Субдомен = точка старта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67004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Use Case записываем в БД при регистрации. URL/лендинг — только триггер, не источник правды.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103120"/>
            <a:ext cx="5074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2103120"/>
            <a:ext cx="73152" cy="132588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304288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5FFF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30428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Inter"/>
              </a:rPr>
              <a:t>Модульность (ClickApps)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267004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UI-скин — набор тумблеров. Выключили «Лидогенерацию» — она исчезает везде, консистентно.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611880"/>
            <a:ext cx="5074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3611880"/>
            <a:ext cx="73152" cy="132588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813048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5FFF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381304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Inter"/>
              </a:rPr>
              <a:t>Upsell-тизеры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417880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Скрываем самое сложное, но оставляем «ключи» к апгрейду — «замочки» вместо пустого места.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611880"/>
            <a:ext cx="5074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611880"/>
            <a:ext cx="73152" cy="132588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813048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5FFF"/>
                </a:solidFill>
                <a:latin typeface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381304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Inter"/>
              </a:rPr>
              <a:t>Backend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417880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Inter"/>
              </a:rPr>
              <a:t>Скрытие в UI всегда подкреплено защитой эндпоинтов (403). UI — это удобство, не безопасность.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5166360"/>
            <a:ext cx="10509199" cy="82296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270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3856" y="5330952"/>
            <a:ext cx="992398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5FFF"/>
                </a:solidFill>
                <a:latin typeface="Inter"/>
              </a:rPr>
              <a:t>Главный принцип: </a:t>
            </a:r>
            <a:r>
              <a:rPr sz="1300" b="0" i="0">
                <a:solidFill>
                  <a:srgbClr val="1E3A8A"/>
                </a:solidFill>
                <a:latin typeface="Inter"/>
              </a:rPr>
              <a:t>конфигурация важнее кастомных сборок. Одно ядро + декларативные настройки = быстрый запуск любого UI-скина.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6355080"/>
            <a:ext cx="10509199" cy="10972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5400000">
            <a:off x="888065" y="6493703"/>
            <a:ext cx="55595" cy="70225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5" y="64373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Pitch Avatar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8447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3A0B4"/>
                </a:solidFill>
                <a:latin typeface="Inter"/>
              </a:rPr>
              <a:t>Обзор конкурентов · v3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566928"/>
            <a:ext cx="82296" cy="82296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572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5FFF"/>
                </a:solidFill>
                <a:latin typeface="Inter"/>
              </a:rPr>
              <a:t>РЕКОМЕНДАЦИИ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4572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4748B"/>
                </a:solidFill>
                <a:latin typeface="Inter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Inter"/>
              </a:rPr>
              <a:t>Как внедрить: три фазы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103120"/>
            <a:ext cx="340156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3042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B5FFF"/>
                </a:solidFill>
                <a:latin typeface="Inter"/>
              </a:rPr>
              <a:t>ФАЗА 1 ·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61518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Intent &amp; 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06324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6A34A"/>
                </a:solidFill>
                <a:latin typeface="Inter"/>
              </a:rPr>
              <a:t>✓  </a:t>
            </a:r>
            <a:r>
              <a:rPr sz="1150" b="0" i="0">
                <a:solidFill>
                  <a:srgbClr val="334155"/>
                </a:solidFill>
                <a:latin typeface="Inter"/>
              </a:rPr>
              <a:t>Survey на онбординге: 1 вопрос о роли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6A34A"/>
                </a:solidFill>
                <a:latin typeface="Inter"/>
              </a:rPr>
              <a:t>✓  </a:t>
            </a:r>
            <a:r>
              <a:rPr sz="1150" b="0" i="0">
                <a:solidFill>
                  <a:srgbClr val="334155"/>
                </a:solidFill>
                <a:latin typeface="Inter"/>
              </a:rPr>
              <a:t>Поле use_case в профиле + проброс UTM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6A34A"/>
                </a:solidFill>
                <a:latin typeface="Inter"/>
              </a:rPr>
              <a:t>✓  </a:t>
            </a:r>
            <a:r>
              <a:rPr sz="1150" b="0" i="0">
                <a:solidFill>
                  <a:srgbClr val="334155"/>
                </a:solidFill>
                <a:latin typeface="Inter"/>
              </a:rPr>
              <a:t>Шаблоны под HR / Sales / Marketing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498848"/>
            <a:ext cx="2926080" cy="10972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5902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Быстрая ценность · минимум зависимостей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4" y="2103120"/>
            <a:ext cx="340156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3042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B5FFF"/>
                </a:solidFill>
                <a:latin typeface="Inter"/>
              </a:rPr>
              <a:t>ФАЗА 2 · MODULAR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61518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Скины и «замочки»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06324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6A34A"/>
                </a:solidFill>
                <a:latin typeface="Inter"/>
              </a:rPr>
              <a:t>✓  </a:t>
            </a:r>
            <a:r>
              <a:rPr sz="1150" b="0" i="0">
                <a:solidFill>
                  <a:srgbClr val="334155"/>
                </a:solidFill>
                <a:latin typeface="Inter"/>
              </a:rPr>
              <a:t>Реестр модулей с тумблерами (flags)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6A34A"/>
                </a:solidFill>
                <a:latin typeface="Inter"/>
              </a:rPr>
              <a:t>✓  </a:t>
            </a:r>
            <a:r>
              <a:rPr sz="1150" b="0" i="0">
                <a:solidFill>
                  <a:srgbClr val="334155"/>
                </a:solidFill>
                <a:latin typeface="Inter"/>
              </a:rPr>
              <a:t>«Замочки» + экран Upgrade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6A34A"/>
                </a:solidFill>
                <a:latin typeface="Inter"/>
              </a:rPr>
              <a:t>✓  </a:t>
            </a:r>
            <a:r>
              <a:rPr sz="1150" b="0" i="0">
                <a:solidFill>
                  <a:srgbClr val="334155"/>
                </a:solidFill>
                <a:latin typeface="Inter"/>
              </a:rPr>
              <a:t>Скин по роли поверх ядра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27448" y="4498848"/>
            <a:ext cx="2926080" cy="10972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45902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Зависит от Фазы 1 · растит конверсию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103120"/>
            <a:ext cx="340156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3042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B5FFF"/>
                </a:solidFill>
                <a:latin typeface="Inter"/>
              </a:rPr>
              <a:t>ФАЗА 3 · ADMIN 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61518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Inter"/>
              </a:rPr>
              <a:t>No-code конструктор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306324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6A34A"/>
                </a:solidFill>
                <a:latin typeface="Inter"/>
              </a:rPr>
              <a:t>✓  </a:t>
            </a:r>
            <a:r>
              <a:rPr sz="1150" b="0" i="0">
                <a:solidFill>
                  <a:srgbClr val="334155"/>
                </a:solidFill>
                <a:latin typeface="Inter"/>
              </a:rPr>
              <a:t>App Builder: видимость пунктов/модулей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6A34A"/>
                </a:solidFill>
                <a:latin typeface="Inter"/>
              </a:rPr>
              <a:t>✓  </a:t>
            </a:r>
            <a:r>
              <a:rPr sz="1150" b="0" i="0">
                <a:solidFill>
                  <a:srgbClr val="334155"/>
                </a:solidFill>
                <a:latin typeface="Inter"/>
              </a:rPr>
              <a:t>Выбор Theme/Skin, drag-and-drop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6A34A"/>
                </a:solidFill>
                <a:latin typeface="Inter"/>
              </a:rPr>
              <a:t>✓  </a:t>
            </a:r>
            <a:r>
              <a:rPr sz="1150" b="0" i="0">
                <a:solidFill>
                  <a:srgbClr val="334155"/>
                </a:solidFill>
                <a:latin typeface="Inter"/>
              </a:rPr>
              <a:t>Серверная авторизация (403)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75904" y="4498848"/>
            <a:ext cx="2926080" cy="10972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45902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Для Enterprise · самонастройка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212080"/>
            <a:ext cx="10509199" cy="77724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270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5376672"/>
            <a:ext cx="9923983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5FFF"/>
                </a:solidFill>
                <a:latin typeface="Inter"/>
              </a:rPr>
              <a:t>Следующий шаг: </a:t>
            </a:r>
            <a:r>
              <a:rPr sz="1300" b="0" i="0">
                <a:solidFill>
                  <a:srgbClr val="1E3A8A"/>
                </a:solidFill>
                <a:latin typeface="Inter"/>
              </a:rPr>
              <a:t>завести эпик «Modular UI &amp; Intent Onboarding» в бэклоге и собрать прототип Фазы 1 в админке pitch-avatar-admin.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6355080"/>
            <a:ext cx="10509199" cy="10972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888065" y="6493703"/>
            <a:ext cx="55595" cy="70225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64373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Pitch Avatar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8447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3A0B4"/>
                </a:solidFill>
                <a:latin typeface="Inter"/>
              </a:rPr>
              <a:t>Обзор конкурентов · v3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